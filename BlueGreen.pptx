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63" r:id="rId2"/>
    <p:sldId id="262" r:id="rId3"/>
    <p:sldId id="260" r:id="rId4"/>
    <p:sldId id="259" r:id="rId5"/>
    <p:sldId id="258" r:id="rId6"/>
    <p:sldId id="257" r:id="rId7"/>
    <p:sldId id="261" r:id="rId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980" autoAdjust="0"/>
    <p:restoredTop sz="94660"/>
  </p:normalViewPr>
  <p:slideViewPr>
    <p:cSldViewPr snapToGrid="0">
      <p:cViewPr varScale="1">
        <p:scale>
          <a:sx n="87" d="100"/>
          <a:sy n="87" d="100"/>
        </p:scale>
        <p:origin x="368" y="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986147A-E903-CD3C-1B5C-8D9EE268C26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DD2C13D-E1F0-0462-7828-7C5D592EC8E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397211A-F762-FD0C-DE1B-AFDF411EBF2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BF6743-B999-48BC-BF6D-F8A7DCCF0C44}" type="datetimeFigureOut">
              <a:rPr lang="en-IN" smtClean="0"/>
              <a:t>03-02-2026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9B95A4D-855E-5913-573B-E7FC309B583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4E9953F-1421-F63D-30E2-82837D4441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B53E36-4A17-48CF-915D-2D8AC8F0C60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5605385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AF8E717-394F-AEB4-1AAC-118FA314DF3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234611F-DD17-DFFB-B85D-2C283AC5D92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824C0F1-8053-ADCD-1FD2-087EBA298E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BF6743-B999-48BC-BF6D-F8A7DCCF0C44}" type="datetimeFigureOut">
              <a:rPr lang="en-IN" smtClean="0"/>
              <a:t>03-02-2026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90E2730-2895-3928-FDCA-CB1F6F6747A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8A34B55-D607-7E58-B8CA-7650616344A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B53E36-4A17-48CF-915D-2D8AC8F0C60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3174458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9A8EB98-BFA5-BDA7-C000-D99E3027E99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A273AA1-A3FC-3808-B0D2-0193408FA28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3B6D6AF-BD47-8B08-031F-211EDDC763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BF6743-B999-48BC-BF6D-F8A7DCCF0C44}" type="datetimeFigureOut">
              <a:rPr lang="en-IN" smtClean="0"/>
              <a:t>03-02-2026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F23F9C4-395B-1060-F2D5-55175780FD5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B372F99-0E7C-B0DD-8AD3-8A45FC85430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B53E36-4A17-48CF-915D-2D8AC8F0C60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3972955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02C23ED-9745-3F7A-11AF-15CB01BF2AA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3C0A5F5-4690-427F-D910-AC6648EE221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A1240A0-464A-FDE7-A71C-70F9F9D5981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DE29AED-D23B-A69D-C601-736E911D6DD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BF6743-B999-48BC-BF6D-F8A7DCCF0C44}" type="datetimeFigureOut">
              <a:rPr lang="en-IN" smtClean="0"/>
              <a:t>03-02-2026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4D394B0-F159-5F4E-C7A8-D1CC52D3D44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2D02EFF-4871-146C-831B-2A388A34A5D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B53E36-4A17-48CF-915D-2D8AC8F0C60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0097115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CE8F7EE-8D0D-543D-8C97-EECC7C9FF6F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97F987D-99D0-F83A-6977-2686108DC2D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A46B8CF-B812-14E3-0272-57A1CBD43FA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EEA96190-DFD9-F977-F66F-7F09ECDB88C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F3D29A45-3DDD-AE5F-CC73-387B65DE4C1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31324B25-07AB-6F41-C65A-CBAE742C514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BF6743-B999-48BC-BF6D-F8A7DCCF0C44}" type="datetimeFigureOut">
              <a:rPr lang="en-IN" smtClean="0"/>
              <a:t>03-02-2026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470E43FC-0676-EAD6-F9BB-177DC56CD77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8AD6BF36-8E2B-CD96-D0D0-C626AA50D06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B53E36-4A17-48CF-915D-2D8AC8F0C60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7495315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64EB3A9-750E-79F0-8394-8E9DE3CB1D3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B0EBF28-7AE4-7FA0-947E-32A156AC6FB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BF6743-B999-48BC-BF6D-F8A7DCCF0C44}" type="datetimeFigureOut">
              <a:rPr lang="en-IN" smtClean="0"/>
              <a:t>03-02-2026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B4E17EA-A183-D4C3-FCA1-A91D219ADD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22805E4-8331-130B-D77B-C4D837199F2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B53E36-4A17-48CF-915D-2D8AC8F0C60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6078602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85DC7CD-7ED5-0152-83F2-70278CC0232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BF6743-B999-48BC-BF6D-F8A7DCCF0C44}" type="datetimeFigureOut">
              <a:rPr lang="en-IN" smtClean="0"/>
              <a:t>03-02-2026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E675A1BB-B7E1-282E-6827-7F14F076EE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D154063-CB4F-731C-744F-CAE6B8444E4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B53E36-4A17-48CF-915D-2D8AC8F0C60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7245810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2221398-7C20-4630-0113-C927B4C0D58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39A7D5F-8CCC-5F03-EEBB-5C8A686161E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A4A8FF9-8DE4-E5DD-469B-EBBB5BDAC3B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CFC0E9A-A27D-445F-25A5-A732397A89D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BF6743-B999-48BC-BF6D-F8A7DCCF0C44}" type="datetimeFigureOut">
              <a:rPr lang="en-IN" smtClean="0"/>
              <a:t>03-02-2026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6C1B2DB-E6D5-F01D-959A-D9988AA2A6D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0FC70F2-DDFA-3173-0E2B-CCF4CB005EA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B53E36-4A17-48CF-915D-2D8AC8F0C60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7903602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4A7A8F4-42CE-9E17-18F3-72901EB9003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35A9AA50-6503-E127-2987-10558A631CC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32FB33E-E6CA-A9B9-DD56-9ABBD4B9AFF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8AC3451-0F4D-86B7-F240-607D939D7C2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BF6743-B999-48BC-BF6D-F8A7DCCF0C44}" type="datetimeFigureOut">
              <a:rPr lang="en-IN" smtClean="0"/>
              <a:t>03-02-2026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CDFF054-D122-6828-9F7F-21E7F09D62F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4A53BF2-5C54-C959-9685-9C0FA2AC29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B53E36-4A17-48CF-915D-2D8AC8F0C60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890039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8FF85E-70DB-6A05-818E-5F0DBD24DD9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F2FEFBC-58E1-AFB9-8606-2E121C7588C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0BE9E27-47F4-F845-FC0C-4E6A4DD1EE5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BF6743-B999-48BC-BF6D-F8A7DCCF0C44}" type="datetimeFigureOut">
              <a:rPr lang="en-IN" smtClean="0"/>
              <a:t>03-02-2026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9D11252-14A1-FCF4-B4F6-97620FFCC45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4981ABF-B6CE-2556-608F-9BB3C10489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B53E36-4A17-48CF-915D-2D8AC8F0C60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7151199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1AF6841A-7D07-CC45-2663-E0F376232E2E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3798B38-6775-82C9-2E9B-07FCE634D83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9312CD9-AD99-4F0E-1719-12D291EC69A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BF6743-B999-48BC-BF6D-F8A7DCCF0C44}" type="datetimeFigureOut">
              <a:rPr lang="en-IN" smtClean="0"/>
              <a:t>03-02-2026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138899C-3AFC-A101-BD97-359A037A25E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7CC5AE1-85E2-4518-C135-1FA801C9C8D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B53E36-4A17-48CF-915D-2D8AC8F0C60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2558146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A0A09FBF-7C64-6CB8-2D34-893097D5C83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DF944D5-33ED-1931-427A-A797898565A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FCFFC15-A539-95E8-4458-E0CAADBB8AC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DBF6743-B999-48BC-BF6D-F8A7DCCF0C44}" type="datetimeFigureOut">
              <a:rPr lang="en-IN" smtClean="0"/>
              <a:t>03-02-2026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7013C39-24D8-F478-83E2-4870A609214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AB037D6-1B43-4714-E1C1-72292933C5B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5B53E36-4A17-48CF-915D-2D8AC8F0C60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7962560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jp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jp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3624261-754D-A8AA-51C2-72379C7A9AB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7F839541-9CD6-3696-10D7-E630FE5143C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56693" y="-51207"/>
            <a:ext cx="12562636" cy="7066483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65055271-8497-C1E8-BFB6-DFFE25AEAE1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22360" y="5118659"/>
            <a:ext cx="2857500" cy="1600200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D7FA54B0-619D-110C-2698-CC59EE8F4FEA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05974" y="4909109"/>
            <a:ext cx="2266950" cy="2019300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2C6CF550-3C0C-C7F6-D08C-38DE4528E3E8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51824" y="4851125"/>
            <a:ext cx="3640640" cy="2286834"/>
          </a:xfrm>
          <a:prstGeom prst="rect">
            <a:avLst/>
          </a:prstGeom>
        </p:spPr>
      </p:pic>
      <p:sp>
        <p:nvSpPr>
          <p:cNvPr id="16" name="TextBox 15">
            <a:extLst>
              <a:ext uri="{FF2B5EF4-FFF2-40B4-BE49-F238E27FC236}">
                <a16:creationId xmlns:a16="http://schemas.microsoft.com/office/drawing/2014/main" id="{1B26BADB-E388-B256-6F8F-F26B83DC9156}"/>
              </a:ext>
            </a:extLst>
          </p:cNvPr>
          <p:cNvSpPr txBox="1"/>
          <p:nvPr/>
        </p:nvSpPr>
        <p:spPr>
          <a:xfrm>
            <a:off x="3611270" y="2204687"/>
            <a:ext cx="534009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3200" dirty="0">
                <a:solidFill>
                  <a:schemeClr val="accent1">
                    <a:lumMod val="20000"/>
                    <a:lumOff val="80000"/>
                  </a:schemeClr>
                </a:solidFill>
                <a:latin typeface="Arial Rounded MT Bold" panose="020F0704030504030204" pitchFamily="34" charset="0"/>
              </a:rPr>
              <a:t>Blue Green Deployment </a:t>
            </a:r>
          </a:p>
        </p:txBody>
      </p:sp>
      <p:pic>
        <p:nvPicPr>
          <p:cNvPr id="18" name="Picture 17">
            <a:extLst>
              <a:ext uri="{FF2B5EF4-FFF2-40B4-BE49-F238E27FC236}">
                <a16:creationId xmlns:a16="http://schemas.microsoft.com/office/drawing/2014/main" id="{F4F59DD4-63C5-B201-D4ED-0AF68096C3FD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5001" y="208274"/>
            <a:ext cx="2037143" cy="819632"/>
          </a:xfrm>
          <a:prstGeom prst="rect">
            <a:avLst/>
          </a:prstGeom>
        </p:spPr>
      </p:pic>
      <p:pic>
        <p:nvPicPr>
          <p:cNvPr id="20" name="Picture 19">
            <a:extLst>
              <a:ext uri="{FF2B5EF4-FFF2-40B4-BE49-F238E27FC236}">
                <a16:creationId xmlns:a16="http://schemas.microsoft.com/office/drawing/2014/main" id="{335DD4D9-3290-D164-802A-0D4DE779B8E9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277916" y="-145377"/>
            <a:ext cx="1228027" cy="1228027"/>
          </a:xfrm>
          <a:prstGeom prst="rect">
            <a:avLst/>
          </a:prstGeom>
        </p:spPr>
      </p:pic>
      <p:sp>
        <p:nvSpPr>
          <p:cNvPr id="21" name="TextBox 20">
            <a:extLst>
              <a:ext uri="{FF2B5EF4-FFF2-40B4-BE49-F238E27FC236}">
                <a16:creationId xmlns:a16="http://schemas.microsoft.com/office/drawing/2014/main" id="{0C90D50B-5FBE-E8E7-E7E2-14DF68649677}"/>
              </a:ext>
            </a:extLst>
          </p:cNvPr>
          <p:cNvSpPr txBox="1"/>
          <p:nvPr/>
        </p:nvSpPr>
        <p:spPr>
          <a:xfrm>
            <a:off x="4959571" y="2934129"/>
            <a:ext cx="187839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dirty="0" err="1">
                <a:solidFill>
                  <a:schemeClr val="accent4">
                    <a:lumMod val="20000"/>
                    <a:lumOff val="80000"/>
                  </a:schemeClr>
                </a:solidFill>
              </a:rPr>
              <a:t>Athora</a:t>
            </a:r>
            <a:r>
              <a:rPr lang="en-IN" dirty="0">
                <a:solidFill>
                  <a:schemeClr val="accent4">
                    <a:lumMod val="20000"/>
                    <a:lumOff val="80000"/>
                  </a:schemeClr>
                </a:solidFill>
              </a:rPr>
              <a:t> </a:t>
            </a:r>
            <a:r>
              <a:rPr lang="en-IN" dirty="0" err="1">
                <a:solidFill>
                  <a:schemeClr val="accent4">
                    <a:lumMod val="20000"/>
                    <a:lumOff val="80000"/>
                  </a:schemeClr>
                </a:solidFill>
              </a:rPr>
              <a:t>Agos</a:t>
            </a:r>
            <a:r>
              <a:rPr lang="en-IN" dirty="0">
                <a:solidFill>
                  <a:schemeClr val="accent4">
                    <a:lumMod val="20000"/>
                    <a:lumOff val="80000"/>
                  </a:schemeClr>
                </a:solidFill>
              </a:rPr>
              <a:t> Team</a:t>
            </a:r>
          </a:p>
        </p:txBody>
      </p:sp>
    </p:spTree>
    <p:extLst>
      <p:ext uri="{BB962C8B-B14F-4D97-AF65-F5344CB8AC3E}">
        <p14:creationId xmlns:p14="http://schemas.microsoft.com/office/powerpoint/2010/main" val="256513150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DA7A6FD-7397-3464-CE20-5AC8711A4BC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79755" y="438277"/>
            <a:ext cx="9959035" cy="512699"/>
          </a:xfrm>
        </p:spPr>
        <p:txBody>
          <a:bodyPr>
            <a:normAutofit fontScale="90000"/>
          </a:bodyPr>
          <a:lstStyle/>
          <a:p>
            <a:r>
              <a:rPr lang="en-IN" sz="4000" b="1" dirty="0"/>
              <a:t>Current Scenario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E8FD1601-6757-89CF-CF85-CB6BB2EFB99F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98474" y="3811065"/>
            <a:ext cx="4690908" cy="2681809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B2532E95-D88B-3418-702E-AF129785982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0165" y="1170315"/>
            <a:ext cx="4788146" cy="3981655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699E1B72-1B1A-A4D7-F251-CEB0A95E0413}"/>
              </a:ext>
            </a:extLst>
          </p:cNvPr>
          <p:cNvSpPr txBox="1"/>
          <p:nvPr/>
        </p:nvSpPr>
        <p:spPr>
          <a:xfrm>
            <a:off x="6356909" y="819302"/>
            <a:ext cx="4849977" cy="31393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Tx/>
              <a:buChar char="-"/>
            </a:pPr>
            <a:r>
              <a:rPr lang="en-IN" dirty="0">
                <a:latin typeface="Bahnschrift" panose="020B0502040204020203" pitchFamily="34" charset="0"/>
              </a:rPr>
              <a:t>Applications are tightly coupled.</a:t>
            </a:r>
          </a:p>
          <a:p>
            <a:pPr marL="285750" indent="-285750">
              <a:buFontTx/>
              <a:buChar char="-"/>
            </a:pPr>
            <a:r>
              <a:rPr lang="en-IN" dirty="0">
                <a:latin typeface="Bahnschrift" panose="020B0502040204020203" pitchFamily="34" charset="0"/>
              </a:rPr>
              <a:t>Application runs on top of middleware</a:t>
            </a:r>
          </a:p>
          <a:p>
            <a:pPr marL="285750" indent="-285750">
              <a:buFontTx/>
              <a:buChar char="-"/>
            </a:pPr>
            <a:endParaRPr lang="en-IN" dirty="0">
              <a:latin typeface="Bahnschrift" panose="020B0502040204020203" pitchFamily="34" charset="0"/>
            </a:endParaRPr>
          </a:p>
          <a:p>
            <a:pPr marL="285750" indent="-285750">
              <a:buFontTx/>
              <a:buChar char="-"/>
            </a:pPr>
            <a:r>
              <a:rPr lang="en-IN" dirty="0">
                <a:latin typeface="Bahnschrift" panose="020B0502040204020203" pitchFamily="34" charset="0"/>
              </a:rPr>
              <a:t>During deployment - </a:t>
            </a:r>
            <a:r>
              <a:rPr lang="en-IN" dirty="0" err="1">
                <a:latin typeface="Bahnschrift" panose="020B0502040204020203" pitchFamily="34" charset="0"/>
              </a:rPr>
              <a:t>undeploy</a:t>
            </a:r>
            <a:r>
              <a:rPr lang="en-IN" dirty="0">
                <a:latin typeface="Bahnschrift" panose="020B0502040204020203" pitchFamily="34" charset="0"/>
              </a:rPr>
              <a:t> the current version, deploy the latest one. </a:t>
            </a:r>
          </a:p>
          <a:p>
            <a:pPr marL="285750" indent="-285750">
              <a:buFontTx/>
              <a:buChar char="-"/>
            </a:pPr>
            <a:r>
              <a:rPr lang="en-IN" dirty="0">
                <a:latin typeface="Bahnschrift" panose="020B0502040204020203" pitchFamily="34" charset="0"/>
              </a:rPr>
              <a:t>Restart instance</a:t>
            </a:r>
          </a:p>
          <a:p>
            <a:pPr marL="285750" indent="-285750">
              <a:buFontTx/>
              <a:buChar char="-"/>
            </a:pPr>
            <a:r>
              <a:rPr lang="en-IN" dirty="0">
                <a:latin typeface="Bahnschrift" panose="020B0502040204020203" pitchFamily="34" charset="0"/>
              </a:rPr>
              <a:t>Results in downtime</a:t>
            </a:r>
          </a:p>
          <a:p>
            <a:pPr marL="285750" indent="-285750">
              <a:buFontTx/>
              <a:buChar char="-"/>
            </a:pPr>
            <a:r>
              <a:rPr lang="en-IN" dirty="0">
                <a:latin typeface="Bahnschrift" panose="020B0502040204020203" pitchFamily="34" charset="0"/>
              </a:rPr>
              <a:t>Deployment only in maintenance window</a:t>
            </a:r>
          </a:p>
          <a:p>
            <a:endParaRPr lang="en-IN" dirty="0">
              <a:latin typeface="Bahnschrift" panose="020B0502040204020203" pitchFamily="34" charset="0"/>
            </a:endParaRPr>
          </a:p>
          <a:p>
            <a:pPr marL="285750" indent="-285750">
              <a:buFontTx/>
              <a:buChar char="-"/>
            </a:pPr>
            <a:r>
              <a:rPr lang="en-IN" dirty="0">
                <a:latin typeface="Bahnschrift" panose="020B0502040204020203" pitchFamily="34" charset="0"/>
              </a:rPr>
              <a:t>Quick validation before next day business starts.</a:t>
            </a:r>
          </a:p>
        </p:txBody>
      </p:sp>
    </p:spTree>
    <p:extLst>
      <p:ext uri="{BB962C8B-B14F-4D97-AF65-F5344CB8AC3E}">
        <p14:creationId xmlns:p14="http://schemas.microsoft.com/office/powerpoint/2010/main" val="324615985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159B886-29FB-E9D4-D505-2239144566B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sz="4000" b="1" dirty="0"/>
              <a:t>Blue Green Concept (Traditional</a:t>
            </a:r>
            <a:r>
              <a:rPr lang="en-IN" dirty="0"/>
              <a:t>)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93DF0D98-FF18-B914-FFDA-AEE029218F04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79841" y="1481811"/>
            <a:ext cx="4253310" cy="4351338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FE1A9BBD-A4DF-F47D-FD35-51A30E2BBF95}"/>
              </a:ext>
            </a:extLst>
          </p:cNvPr>
          <p:cNvSpPr txBox="1"/>
          <p:nvPr/>
        </p:nvSpPr>
        <p:spPr>
          <a:xfrm>
            <a:off x="5932627" y="1639481"/>
            <a:ext cx="5800953" cy="39703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Tx/>
              <a:buChar char="-"/>
            </a:pPr>
            <a:r>
              <a:rPr lang="en-IN" dirty="0">
                <a:latin typeface="Bahnschrift" panose="020B0502040204020203" pitchFamily="34" charset="0"/>
              </a:rPr>
              <a:t>Two set of servers</a:t>
            </a:r>
          </a:p>
          <a:p>
            <a:pPr marL="285750" indent="-285750">
              <a:buFontTx/>
              <a:buChar char="-"/>
            </a:pPr>
            <a:r>
              <a:rPr lang="en-IN" dirty="0">
                <a:latin typeface="Bahnschrift" panose="020B0502040204020203" pitchFamily="34" charset="0"/>
              </a:rPr>
              <a:t>Active/ Passive</a:t>
            </a:r>
          </a:p>
          <a:p>
            <a:pPr marL="285750" indent="-285750">
              <a:buFontTx/>
              <a:buChar char="-"/>
            </a:pPr>
            <a:r>
              <a:rPr lang="en-IN" dirty="0">
                <a:latin typeface="Bahnschrift" panose="020B0502040204020203" pitchFamily="34" charset="0"/>
              </a:rPr>
              <a:t>Blue is the productive one </a:t>
            </a:r>
          </a:p>
          <a:p>
            <a:pPr marL="285750" indent="-285750">
              <a:buFontTx/>
              <a:buChar char="-"/>
            </a:pPr>
            <a:r>
              <a:rPr lang="en-IN" dirty="0">
                <a:latin typeface="Bahnschrift" panose="020B0502040204020203" pitchFamily="34" charset="0"/>
              </a:rPr>
              <a:t>Green is the environment with latest servers</a:t>
            </a:r>
          </a:p>
          <a:p>
            <a:endParaRPr lang="en-IN" dirty="0">
              <a:latin typeface="Bahnschrift" panose="020B0502040204020203" pitchFamily="34" charset="0"/>
            </a:endParaRPr>
          </a:p>
          <a:p>
            <a:pPr marL="285750" indent="-285750">
              <a:buFontTx/>
              <a:buChar char="-"/>
            </a:pPr>
            <a:r>
              <a:rPr lang="en-IN" dirty="0">
                <a:latin typeface="Bahnschrift" panose="020B0502040204020203" pitchFamily="34" charset="0"/>
              </a:rPr>
              <a:t>Load balancer decides the environment</a:t>
            </a:r>
          </a:p>
          <a:p>
            <a:pPr marL="285750" indent="-285750">
              <a:buFontTx/>
              <a:buChar char="-"/>
            </a:pPr>
            <a:endParaRPr lang="en-IN" dirty="0">
              <a:latin typeface="Bahnschrift" panose="020B0502040204020203" pitchFamily="34" charset="0"/>
            </a:endParaRPr>
          </a:p>
          <a:p>
            <a:pPr marL="285750" indent="-285750">
              <a:buFontTx/>
              <a:buChar char="-"/>
            </a:pPr>
            <a:r>
              <a:rPr lang="en-IN" dirty="0">
                <a:latin typeface="Bahnschrift" panose="020B0502040204020203" pitchFamily="34" charset="0"/>
              </a:rPr>
              <a:t>Testing validation regression performed on Green</a:t>
            </a:r>
          </a:p>
          <a:p>
            <a:pPr marL="285750" indent="-285750">
              <a:buFontTx/>
              <a:buChar char="-"/>
            </a:pPr>
            <a:r>
              <a:rPr lang="en-IN" dirty="0">
                <a:latin typeface="Bahnschrift" panose="020B0502040204020203" pitchFamily="34" charset="0"/>
              </a:rPr>
              <a:t>Traffic switches to Green and becomes operational</a:t>
            </a:r>
          </a:p>
          <a:p>
            <a:pPr marL="285750" indent="-285750">
              <a:buFontTx/>
              <a:buChar char="-"/>
            </a:pPr>
            <a:r>
              <a:rPr lang="en-IN" dirty="0">
                <a:latin typeface="Bahnschrift" panose="020B0502040204020203" pitchFamily="34" charset="0"/>
              </a:rPr>
              <a:t>Change deployed to Blue</a:t>
            </a:r>
          </a:p>
          <a:p>
            <a:pPr marL="285750" indent="-285750">
              <a:buFontTx/>
              <a:buChar char="-"/>
            </a:pPr>
            <a:r>
              <a:rPr lang="en-IN" dirty="0">
                <a:latin typeface="Bahnschrift" panose="020B0502040204020203" pitchFamily="34" charset="0"/>
              </a:rPr>
              <a:t>Blue and Green interchanges</a:t>
            </a:r>
          </a:p>
          <a:p>
            <a:endParaRPr lang="en-IN" dirty="0">
              <a:latin typeface="Bahnschrift" panose="020B0502040204020203" pitchFamily="34" charset="0"/>
            </a:endParaRPr>
          </a:p>
          <a:p>
            <a:pPr marL="285750" indent="-285750">
              <a:buFontTx/>
              <a:buChar char="-"/>
            </a:pPr>
            <a:r>
              <a:rPr lang="en-IN" dirty="0">
                <a:latin typeface="Bahnschrift" panose="020B0502040204020203" pitchFamily="34" charset="0"/>
              </a:rPr>
              <a:t>Almost zero or negligible downtime</a:t>
            </a:r>
          </a:p>
          <a:p>
            <a:pPr marL="285750" indent="-285750">
              <a:buFontTx/>
              <a:buChar char="-"/>
            </a:pPr>
            <a:endParaRPr lang="en-IN" dirty="0">
              <a:latin typeface="Bahnschrift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4822766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5DCA0C7-C35C-B61B-C688-F06363B475C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D978254-179D-FB00-026D-FEC6DC2A67E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6967118" cy="512699"/>
          </a:xfrm>
        </p:spPr>
        <p:txBody>
          <a:bodyPr>
            <a:normAutofit fontScale="90000"/>
          </a:bodyPr>
          <a:lstStyle/>
          <a:p>
            <a:r>
              <a:rPr lang="en-IN" dirty="0">
                <a:latin typeface="Cooper Black" panose="0208090404030B020404" pitchFamily="18" charset="0"/>
              </a:rPr>
              <a:t>What Docker Brings in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F4B167C9-650F-9C12-522E-6597021AE81E}"/>
              </a:ext>
            </a:extLst>
          </p:cNvPr>
          <p:cNvSpPr txBox="1"/>
          <p:nvPr/>
        </p:nvSpPr>
        <p:spPr>
          <a:xfrm>
            <a:off x="7365207" y="1112699"/>
            <a:ext cx="4593945" cy="45243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Tx/>
              <a:buChar char="-"/>
            </a:pPr>
            <a:r>
              <a:rPr lang="en-US" dirty="0">
                <a:latin typeface="Cascadia Code SemiBold" panose="020B0609020000020004" pitchFamily="49" charset="0"/>
                <a:ea typeface="Cascadia Code SemiBold" panose="020B0609020000020004" pitchFamily="49" charset="0"/>
                <a:cs typeface="Cascadia Code SemiBold" panose="020B0609020000020004" pitchFamily="49" charset="0"/>
              </a:rPr>
              <a:t>Containerization: Each Java app (Payara Micro or Payara Full Profile) packaged into a Docker image</a:t>
            </a:r>
          </a:p>
          <a:p>
            <a:pPr marL="285750" indent="-285750">
              <a:buFontTx/>
              <a:buChar char="-"/>
            </a:pPr>
            <a:endParaRPr lang="en-US" dirty="0">
              <a:latin typeface="Cascadia Code SemiBold" panose="020B0609020000020004" pitchFamily="49" charset="0"/>
              <a:ea typeface="Cascadia Code SemiBold" panose="020B0609020000020004" pitchFamily="49" charset="0"/>
              <a:cs typeface="Cascadia Code SemiBold" panose="020B0609020000020004" pitchFamily="49" charset="0"/>
            </a:endParaRPr>
          </a:p>
          <a:p>
            <a:pPr marL="285750" indent="-285750">
              <a:buFontTx/>
              <a:buChar char="-"/>
            </a:pPr>
            <a:r>
              <a:rPr lang="en-US" dirty="0">
                <a:latin typeface="Cascadia Code SemiBold" panose="020B0609020000020004" pitchFamily="49" charset="0"/>
                <a:ea typeface="Cascadia Code SemiBold" panose="020B0609020000020004" pitchFamily="49" charset="0"/>
                <a:cs typeface="Cascadia Code SemiBold" panose="020B0609020000020004" pitchFamily="49" charset="0"/>
              </a:rPr>
              <a:t>Consistency: Same image runs in dev, QA, pre-prod, and prod</a:t>
            </a:r>
          </a:p>
          <a:p>
            <a:pPr marL="285750" indent="-285750">
              <a:buFontTx/>
              <a:buChar char="-"/>
            </a:pPr>
            <a:endParaRPr lang="en-US" dirty="0">
              <a:latin typeface="Cascadia Code SemiBold" panose="020B0609020000020004" pitchFamily="49" charset="0"/>
              <a:ea typeface="Cascadia Code SemiBold" panose="020B0609020000020004" pitchFamily="49" charset="0"/>
              <a:cs typeface="Cascadia Code SemiBold" panose="020B0609020000020004" pitchFamily="49" charset="0"/>
            </a:endParaRPr>
          </a:p>
          <a:p>
            <a:pPr marL="285750" indent="-285750">
              <a:buFontTx/>
              <a:buChar char="-"/>
            </a:pPr>
            <a:r>
              <a:rPr lang="en-US" dirty="0">
                <a:latin typeface="Cascadia Code SemiBold" panose="020B0609020000020004" pitchFamily="49" charset="0"/>
                <a:ea typeface="Cascadia Code SemiBold" panose="020B0609020000020004" pitchFamily="49" charset="0"/>
                <a:cs typeface="Cascadia Code SemiBold" panose="020B0609020000020004" pitchFamily="49" charset="0"/>
              </a:rPr>
              <a:t>Lightweight: Containers share the host OS kernel.</a:t>
            </a:r>
          </a:p>
          <a:p>
            <a:pPr marL="285750" indent="-285750">
              <a:buFontTx/>
              <a:buChar char="-"/>
            </a:pPr>
            <a:endParaRPr lang="en-US" dirty="0">
              <a:latin typeface="Cascadia Code SemiBold" panose="020B0609020000020004" pitchFamily="49" charset="0"/>
              <a:ea typeface="Cascadia Code SemiBold" panose="020B0609020000020004" pitchFamily="49" charset="0"/>
              <a:cs typeface="Cascadia Code SemiBold" panose="020B0609020000020004" pitchFamily="49" charset="0"/>
            </a:endParaRPr>
          </a:p>
          <a:p>
            <a:pPr marL="285750" indent="-285750">
              <a:buFontTx/>
              <a:buChar char="-"/>
            </a:pPr>
            <a:r>
              <a:rPr lang="en-US" dirty="0">
                <a:latin typeface="Cascadia Code SemiBold" panose="020B0609020000020004" pitchFamily="49" charset="0"/>
                <a:ea typeface="Cascadia Code SemiBold" panose="020B0609020000020004" pitchFamily="49" charset="0"/>
                <a:cs typeface="Cascadia Code SemiBold" panose="020B0609020000020004" pitchFamily="49" charset="0"/>
              </a:rPr>
              <a:t>Portability: Easier to move workloads across servers/cloud.</a:t>
            </a:r>
          </a:p>
          <a:p>
            <a:pPr marL="285750" indent="-285750">
              <a:buFontTx/>
              <a:buChar char="-"/>
            </a:pPr>
            <a:endParaRPr lang="en-IN" dirty="0"/>
          </a:p>
          <a:p>
            <a:endParaRPr lang="en-IN" dirty="0"/>
          </a:p>
        </p:txBody>
      </p:sp>
      <p:pic>
        <p:nvPicPr>
          <p:cNvPr id="7" name="Content Placeholder 6">
            <a:extLst>
              <a:ext uri="{FF2B5EF4-FFF2-40B4-BE49-F238E27FC236}">
                <a16:creationId xmlns:a16="http://schemas.microsoft.com/office/drawing/2014/main" id="{0BF824A8-7E69-B617-FF64-DDFF9DCF819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23435" y="999008"/>
            <a:ext cx="4351338" cy="4351338"/>
          </a:xfrm>
          <a:prstGeom prst="rect">
            <a:avLst/>
          </a:prstGeom>
        </p:spPr>
      </p:pic>
      <p:sp>
        <p:nvSpPr>
          <p:cNvPr id="10" name="Rectangle 2">
            <a:extLst>
              <a:ext uri="{FF2B5EF4-FFF2-40B4-BE49-F238E27FC236}">
                <a16:creationId xmlns:a16="http://schemas.microsoft.com/office/drawing/2014/main" id="{48805547-E6EE-B7CD-55B2-8743DDDA1563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Containerization</a:t>
            </a:r>
            <a:r>
              <a: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 Each Java app (Payara Micro or Payara Full Profile) can be packaged into a Docker image.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9858523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DDBD223-E328-5A31-8268-AF3D00FFDDA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A831804-9A9A-7B80-2AFE-847D8444542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6967118" cy="512699"/>
          </a:xfrm>
        </p:spPr>
        <p:txBody>
          <a:bodyPr>
            <a:normAutofit fontScale="90000"/>
          </a:bodyPr>
          <a:lstStyle/>
          <a:p>
            <a:r>
              <a:rPr lang="en-IN" dirty="0">
                <a:latin typeface="Cooper Black" panose="0208090404030B020404" pitchFamily="18" charset="0"/>
              </a:rPr>
              <a:t>Fly with K8s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F7831531-DEA2-68A5-0068-3C8F7BBBCAD8}"/>
              </a:ext>
            </a:extLst>
          </p:cNvPr>
          <p:cNvSpPr txBox="1"/>
          <p:nvPr/>
        </p:nvSpPr>
        <p:spPr>
          <a:xfrm>
            <a:off x="7011325" y="308028"/>
            <a:ext cx="4593945" cy="563231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Tx/>
              <a:buChar char="-"/>
            </a:pPr>
            <a:r>
              <a:rPr lang="en-US" dirty="0">
                <a:latin typeface="Cascadia Code SemiBold" panose="020B0609020000020004" pitchFamily="49" charset="0"/>
                <a:ea typeface="Cascadia Code SemiBold" panose="020B0609020000020004" pitchFamily="49" charset="0"/>
                <a:cs typeface="Cascadia Code SemiBold" panose="020B0609020000020004" pitchFamily="49" charset="0"/>
              </a:rPr>
              <a:t>Orchestration: manages scheduling, scaling, and health checks of containers.</a:t>
            </a:r>
          </a:p>
          <a:p>
            <a:pPr marL="285750" indent="-285750">
              <a:buFontTx/>
              <a:buChar char="-"/>
            </a:pPr>
            <a:endParaRPr lang="en-US" dirty="0">
              <a:latin typeface="Cascadia Code SemiBold" panose="020B0609020000020004" pitchFamily="49" charset="0"/>
              <a:ea typeface="Cascadia Code SemiBold" panose="020B0609020000020004" pitchFamily="49" charset="0"/>
              <a:cs typeface="Cascadia Code SemiBold" panose="020B0609020000020004" pitchFamily="49" charset="0"/>
            </a:endParaRPr>
          </a:p>
          <a:p>
            <a:pPr marL="285750" indent="-285750">
              <a:buFontTx/>
              <a:buChar char="-"/>
            </a:pPr>
            <a:r>
              <a:rPr lang="en-US" dirty="0">
                <a:latin typeface="Cascadia Code SemiBold" panose="020B0609020000020004" pitchFamily="49" charset="0"/>
                <a:ea typeface="Cascadia Code SemiBold" panose="020B0609020000020004" pitchFamily="49" charset="0"/>
                <a:cs typeface="Cascadia Code SemiBold" panose="020B0609020000020004" pitchFamily="49" charset="0"/>
              </a:rPr>
              <a:t>Environment Separation: namespaces for dev, QA, pre-prod, prod instead of separate servers.</a:t>
            </a:r>
          </a:p>
          <a:p>
            <a:endParaRPr lang="en-US" dirty="0">
              <a:latin typeface="Cascadia Code SemiBold" panose="020B0609020000020004" pitchFamily="49" charset="0"/>
              <a:ea typeface="Cascadia Code SemiBold" panose="020B0609020000020004" pitchFamily="49" charset="0"/>
              <a:cs typeface="Cascadia Code SemiBold" panose="020B0609020000020004" pitchFamily="49" charset="0"/>
            </a:endParaRPr>
          </a:p>
          <a:p>
            <a:r>
              <a:rPr lang="en-US" dirty="0">
                <a:latin typeface="Cascadia Code SemiBold" panose="020B0609020000020004" pitchFamily="49" charset="0"/>
                <a:ea typeface="Cascadia Code SemiBold" panose="020B0609020000020004" pitchFamily="49" charset="0"/>
                <a:cs typeface="Cascadia Code SemiBold" panose="020B0609020000020004" pitchFamily="49" charset="0"/>
              </a:rPr>
              <a:t>- Auto-Scaling: Worker nodes scale up/down based on load.</a:t>
            </a:r>
          </a:p>
          <a:p>
            <a:endParaRPr lang="en-IN" dirty="0">
              <a:latin typeface="Cascadia Code SemiBold" panose="020B0609020000020004" pitchFamily="49" charset="0"/>
              <a:ea typeface="Cascadia Code SemiBold" panose="020B0609020000020004" pitchFamily="49" charset="0"/>
              <a:cs typeface="Cascadia Code SemiBold" panose="020B0609020000020004" pitchFamily="49" charset="0"/>
            </a:endParaRPr>
          </a:p>
          <a:p>
            <a:r>
              <a:rPr lang="en-US" dirty="0">
                <a:highlight>
                  <a:srgbClr val="FFFF00"/>
                </a:highlight>
                <a:latin typeface="Cascadia Code SemiBold" panose="020B0609020000020004" pitchFamily="49" charset="0"/>
                <a:ea typeface="Cascadia Code SemiBold" panose="020B0609020000020004" pitchFamily="49" charset="0"/>
                <a:cs typeface="Cascadia Code SemiBold" panose="020B0609020000020004" pitchFamily="49" charset="0"/>
              </a:rPr>
              <a:t>- Modern Practices: Blue-Green, Canary, Rolling updates become native.</a:t>
            </a:r>
          </a:p>
          <a:p>
            <a:endParaRPr lang="en-IN" dirty="0">
              <a:latin typeface="Cascadia Code SemiBold" panose="020B0609020000020004" pitchFamily="49" charset="0"/>
              <a:ea typeface="Cascadia Code SemiBold" panose="020B0609020000020004" pitchFamily="49" charset="0"/>
              <a:cs typeface="Cascadia Code SemiBold" panose="020B0609020000020004" pitchFamily="49" charset="0"/>
            </a:endParaRPr>
          </a:p>
          <a:p>
            <a:r>
              <a:rPr lang="en-US" dirty="0">
                <a:latin typeface="Cascadia Code SemiBold" panose="020B0609020000020004" pitchFamily="49" charset="0"/>
                <a:ea typeface="Cascadia Code SemiBold" panose="020B0609020000020004" pitchFamily="49" charset="0"/>
                <a:cs typeface="Cascadia Code SemiBold" panose="020B0609020000020004" pitchFamily="49" charset="0"/>
              </a:rPr>
              <a:t>- Cloud-Native Ready: Easier integration with CI/CD, monitoring</a:t>
            </a:r>
            <a:endParaRPr lang="en-IN" dirty="0">
              <a:latin typeface="Cascadia Code SemiBold" panose="020B0609020000020004" pitchFamily="49" charset="0"/>
              <a:ea typeface="Cascadia Code SemiBold" panose="020B0609020000020004" pitchFamily="49" charset="0"/>
              <a:cs typeface="Cascadia Code SemiBold" panose="020B0609020000020004" pitchFamily="49" charset="0"/>
            </a:endParaRPr>
          </a:p>
          <a:p>
            <a:endParaRPr lang="en-IN" dirty="0"/>
          </a:p>
        </p:txBody>
      </p:sp>
      <p:pic>
        <p:nvPicPr>
          <p:cNvPr id="8" name="Content Placeholder 7">
            <a:extLst>
              <a:ext uri="{FF2B5EF4-FFF2-40B4-BE49-F238E27FC236}">
                <a16:creationId xmlns:a16="http://schemas.microsoft.com/office/drawing/2014/main" id="{4FB0B3C3-2F78-C88D-7F41-B708F0F6E4D5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586730" y="1167257"/>
            <a:ext cx="5919102" cy="39460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5001255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825401F-743C-2CEE-29EE-DDA7C7D53E3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6967118" cy="512699"/>
          </a:xfrm>
        </p:spPr>
        <p:txBody>
          <a:bodyPr>
            <a:normAutofit fontScale="90000"/>
          </a:bodyPr>
          <a:lstStyle/>
          <a:p>
            <a:r>
              <a:rPr lang="en-IN" dirty="0">
                <a:latin typeface="Cooper Black" panose="0208090404030B020404" pitchFamily="18" charset="0"/>
              </a:rPr>
              <a:t>Blue Green with k8s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DB3B91ED-E226-51FF-83E2-CBC2C2279AF2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8200" y="969746"/>
            <a:ext cx="6527007" cy="4351338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269A621F-66B0-C9AC-7CE6-16CFD8343010}"/>
              </a:ext>
            </a:extLst>
          </p:cNvPr>
          <p:cNvSpPr txBox="1"/>
          <p:nvPr/>
        </p:nvSpPr>
        <p:spPr>
          <a:xfrm>
            <a:off x="7365207" y="877824"/>
            <a:ext cx="4593945" cy="535531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>
                <a:latin typeface="Cascadia Code SemiBold" panose="020B0609020000020004" pitchFamily="49" charset="0"/>
                <a:ea typeface="Cascadia Code SemiBold" panose="020B0609020000020004" pitchFamily="49" charset="0"/>
                <a:cs typeface="Cascadia Code SemiBold" panose="020B0609020000020004" pitchFamily="49" charset="0"/>
              </a:rPr>
              <a:t>Deploy blue environment </a:t>
            </a:r>
            <a:r>
              <a:rPr lang="en-IN" b="1" dirty="0">
                <a:latin typeface="Cascadia Code SemiBold" panose="020B0609020000020004" pitchFamily="49" charset="0"/>
                <a:ea typeface="Cascadia Code SemiBold" panose="020B0609020000020004" pitchFamily="49" charset="0"/>
                <a:cs typeface="Cascadia Code SemiBold" panose="020B0609020000020004" pitchFamily="49" charset="0"/>
              </a:rPr>
              <a:t>v1.0.0</a:t>
            </a:r>
            <a:endParaRPr lang="en-IN" dirty="0">
              <a:latin typeface="Cascadia Code SemiBold" panose="020B0609020000020004" pitchFamily="49" charset="0"/>
              <a:ea typeface="Cascadia Code SemiBold" panose="020B0609020000020004" pitchFamily="49" charset="0"/>
              <a:cs typeface="Cascadia Code SemiBold" panose="020B0609020000020004" pitchFamily="49" charset="0"/>
            </a:endParaRPr>
          </a:p>
          <a:p>
            <a:endParaRPr lang="en-IN" dirty="0">
              <a:latin typeface="Cascadia Code SemiBold" panose="020B0609020000020004" pitchFamily="49" charset="0"/>
              <a:ea typeface="Cascadia Code SemiBold" panose="020B0609020000020004" pitchFamily="49" charset="0"/>
              <a:cs typeface="Cascadia Code SemiBold" panose="020B0609020000020004" pitchFamily="49" charset="0"/>
            </a:endParaRPr>
          </a:p>
          <a:p>
            <a:r>
              <a:rPr lang="en-IN" dirty="0">
                <a:latin typeface="Cascadia Code SemiBold" panose="020B0609020000020004" pitchFamily="49" charset="0"/>
                <a:ea typeface="Cascadia Code SemiBold" panose="020B0609020000020004" pitchFamily="49" charset="0"/>
                <a:cs typeface="Cascadia Code SemiBold" panose="020B0609020000020004" pitchFamily="49" charset="0"/>
              </a:rPr>
              <a:t>Deploy green environment </a:t>
            </a:r>
            <a:r>
              <a:rPr lang="en-IN" b="1" dirty="0">
                <a:latin typeface="Cascadia Code SemiBold" panose="020B0609020000020004" pitchFamily="49" charset="0"/>
                <a:ea typeface="Cascadia Code SemiBold" panose="020B0609020000020004" pitchFamily="49" charset="0"/>
                <a:cs typeface="Cascadia Code SemiBold" panose="020B0609020000020004" pitchFamily="49" charset="0"/>
              </a:rPr>
              <a:t>v2.0.0</a:t>
            </a:r>
            <a:endParaRPr lang="en-IN" dirty="0">
              <a:latin typeface="Cascadia Code SemiBold" panose="020B0609020000020004" pitchFamily="49" charset="0"/>
              <a:ea typeface="Cascadia Code SemiBold" panose="020B0609020000020004" pitchFamily="49" charset="0"/>
              <a:cs typeface="Cascadia Code SemiBold" panose="020B0609020000020004" pitchFamily="49" charset="0"/>
            </a:endParaRPr>
          </a:p>
          <a:p>
            <a:endParaRPr lang="en-IN" dirty="0">
              <a:latin typeface="Cascadia Code SemiBold" panose="020B0609020000020004" pitchFamily="49" charset="0"/>
              <a:ea typeface="Cascadia Code SemiBold" panose="020B0609020000020004" pitchFamily="49" charset="0"/>
              <a:cs typeface="Cascadia Code SemiBold" panose="020B0609020000020004" pitchFamily="49" charset="0"/>
            </a:endParaRPr>
          </a:p>
          <a:p>
            <a:r>
              <a:rPr lang="en-IN" dirty="0">
                <a:latin typeface="Cascadia Code SemiBold" panose="020B0609020000020004" pitchFamily="49" charset="0"/>
                <a:ea typeface="Cascadia Code SemiBold" panose="020B0609020000020004" pitchFamily="49" charset="0"/>
                <a:cs typeface="Cascadia Code SemiBold" panose="020B0609020000020004" pitchFamily="49" charset="0"/>
              </a:rPr>
              <a:t>Deploy Service with correct label Selector.</a:t>
            </a:r>
          </a:p>
          <a:p>
            <a:endParaRPr lang="en-IN" dirty="0">
              <a:latin typeface="Cascadia Code SemiBold" panose="020B0609020000020004" pitchFamily="49" charset="0"/>
              <a:ea typeface="Cascadia Code SemiBold" panose="020B0609020000020004" pitchFamily="49" charset="0"/>
              <a:cs typeface="Cascadia Code SemiBold" panose="020B0609020000020004" pitchFamily="49" charset="0"/>
            </a:endParaRPr>
          </a:p>
          <a:p>
            <a:r>
              <a:rPr lang="en-IN" dirty="0">
                <a:latin typeface="Cascadia Code SemiBold" panose="020B0609020000020004" pitchFamily="49" charset="0"/>
                <a:ea typeface="Cascadia Code SemiBold" panose="020B0609020000020004" pitchFamily="49" charset="0"/>
                <a:cs typeface="Cascadia Code SemiBold" panose="020B0609020000020004" pitchFamily="49" charset="0"/>
              </a:rPr>
              <a:t>Label Selector switches or determines the traffic flow.</a:t>
            </a:r>
          </a:p>
          <a:p>
            <a:endParaRPr lang="en-IN" dirty="0">
              <a:latin typeface="Cascadia Code SemiBold" panose="020B0609020000020004" pitchFamily="49" charset="0"/>
              <a:ea typeface="Cascadia Code SemiBold" panose="020B0609020000020004" pitchFamily="49" charset="0"/>
              <a:cs typeface="Cascadia Code SemiBold" panose="020B0609020000020004" pitchFamily="49" charset="0"/>
            </a:endParaRPr>
          </a:p>
          <a:p>
            <a:r>
              <a:rPr lang="en-IN" dirty="0">
                <a:latin typeface="Cascadia Code SemiBold" panose="020B0609020000020004" pitchFamily="49" charset="0"/>
                <a:ea typeface="Cascadia Code SemiBold" panose="020B0609020000020004" pitchFamily="49" charset="0"/>
                <a:cs typeface="Cascadia Code SemiBold" panose="020B0609020000020004" pitchFamily="49" charset="0"/>
              </a:rPr>
              <a:t>Monitor, validate Green environment with no hurry.</a:t>
            </a:r>
          </a:p>
          <a:p>
            <a:endParaRPr lang="en-IN" dirty="0">
              <a:latin typeface="Cascadia Code SemiBold" panose="020B0609020000020004" pitchFamily="49" charset="0"/>
              <a:ea typeface="Cascadia Code SemiBold" panose="020B0609020000020004" pitchFamily="49" charset="0"/>
              <a:cs typeface="Cascadia Code SemiBold" panose="020B0609020000020004" pitchFamily="49" charset="0"/>
            </a:endParaRPr>
          </a:p>
          <a:p>
            <a:r>
              <a:rPr lang="en-IN" dirty="0">
                <a:latin typeface="Cascadia Code SemiBold" panose="020B0609020000020004" pitchFamily="49" charset="0"/>
                <a:ea typeface="Cascadia Code SemiBold" panose="020B0609020000020004" pitchFamily="49" charset="0"/>
                <a:cs typeface="Cascadia Code SemiBold" panose="020B0609020000020004" pitchFamily="49" charset="0"/>
              </a:rPr>
              <a:t>If ok – Switch the traffic to V2.0.0 </a:t>
            </a:r>
          </a:p>
          <a:p>
            <a:endParaRPr lang="en-IN" dirty="0">
              <a:latin typeface="Cascadia Code SemiBold" panose="020B0609020000020004" pitchFamily="49" charset="0"/>
              <a:ea typeface="Cascadia Code SemiBold" panose="020B0609020000020004" pitchFamily="49" charset="0"/>
              <a:cs typeface="Cascadia Code SemiBold" panose="020B0609020000020004" pitchFamily="49" charset="0"/>
            </a:endParaRPr>
          </a:p>
          <a:p>
            <a:r>
              <a:rPr lang="en-IN" dirty="0">
                <a:latin typeface="Cascadia Code SemiBold" panose="020B0609020000020004" pitchFamily="49" charset="0"/>
                <a:ea typeface="Cascadia Code SemiBold" panose="020B0609020000020004" pitchFamily="49" charset="0"/>
                <a:cs typeface="Cascadia Code SemiBold" panose="020B0609020000020004" pitchFamily="49" charset="0"/>
              </a:rPr>
              <a:t>Destroy v1.0.0</a:t>
            </a:r>
          </a:p>
          <a:p>
            <a:endParaRPr lang="en-IN" dirty="0"/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80467790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A63DB76B-5784-E5D7-4E5A-3489F099778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91896" y="730885"/>
            <a:ext cx="4351338" cy="4351338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EE0340DA-E0DB-26B6-2E57-AD626478306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89821" y="1111390"/>
            <a:ext cx="5245370" cy="34355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9293186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170</TotalTime>
  <Words>301</Words>
  <Application>Microsoft Office PowerPoint</Application>
  <PresentationFormat>Widescreen</PresentationFormat>
  <Paragraphs>59</Paragraphs>
  <Slides>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5" baseType="lpstr">
      <vt:lpstr>Arial</vt:lpstr>
      <vt:lpstr>Arial Rounded MT Bold</vt:lpstr>
      <vt:lpstr>Bahnschrift</vt:lpstr>
      <vt:lpstr>Calibri</vt:lpstr>
      <vt:lpstr>Calibri Light</vt:lpstr>
      <vt:lpstr>Cascadia Code SemiBold</vt:lpstr>
      <vt:lpstr>Cooper Black</vt:lpstr>
      <vt:lpstr>Office Theme</vt:lpstr>
      <vt:lpstr>PowerPoint Presentation</vt:lpstr>
      <vt:lpstr>Current Scenario</vt:lpstr>
      <vt:lpstr>Blue Green Concept (Traditional)</vt:lpstr>
      <vt:lpstr>What Docker Brings in</vt:lpstr>
      <vt:lpstr>Fly with K8s</vt:lpstr>
      <vt:lpstr>Blue Green with k8s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Santanu Hajra</dc:creator>
  <cp:lastModifiedBy>Santanu Hajra</cp:lastModifiedBy>
  <cp:revision>9</cp:revision>
  <dcterms:created xsi:type="dcterms:W3CDTF">2026-02-04T03:35:44Z</dcterms:created>
  <dcterms:modified xsi:type="dcterms:W3CDTF">2026-02-04T06:26:38Z</dcterms:modified>
</cp:coreProperties>
</file>